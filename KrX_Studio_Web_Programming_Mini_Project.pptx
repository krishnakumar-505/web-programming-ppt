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374" r:id="rId4"/>
    <p:sldId id="372" r:id="rId5"/>
    <p:sldId id="375" r:id="rId6"/>
    <p:sldId id="376" r:id="rId7"/>
    <p:sldId id="373" r:id="rId8"/>
    <p:sldId id="377" r:id="rId9"/>
    <p:sldId id="379" r:id="rId10"/>
    <p:sldId id="380" r:id="rId11"/>
    <p:sldId id="3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840362" y="2697480"/>
            <a:ext cx="11037605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SUBJECT: </a:t>
            </a:r>
            <a:r>
              <a:rPr lang="en-US" sz="2000" b="1" i="0" dirty="0">
                <a:solidFill>
                  <a:srgbClr val="C00000"/>
                </a:solidFill>
                <a:latin typeface="Times New Roman"/>
                <a:cs typeface="Times New Roman"/>
              </a:rPr>
              <a:t>Web Programming</a:t>
            </a:r>
            <a:endParaRPr 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PROJECT: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KrX Studio — Modern Digital Studio Website</a:t>
            </a: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TECHNOLOGIES: </a:t>
            </a:r>
            <a:r>
              <a:rPr lang="en-US" sz="2000" b="1" i="0" dirty="0">
                <a:solidFill>
                  <a:srgbClr val="C00000"/>
                </a:solidFill>
                <a:latin typeface="Times New Roman"/>
                <a:cs typeface="Times New Roman"/>
              </a:rPr>
              <a:t>HTML, </a:t>
            </a:r>
            <a:r>
              <a:rPr lang="en-US"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CSS, </a:t>
            </a:r>
            <a:r>
              <a:rPr lang="en-US" sz="2000" b="1" i="0" dirty="0">
                <a:solidFill>
                  <a:srgbClr val="C00000"/>
                </a:solidFill>
                <a:latin typeface="Times New Roman"/>
                <a:cs typeface="Times New Roman"/>
              </a:rPr>
              <a:t>JavaScript, </a:t>
            </a:r>
            <a:r>
              <a:rPr lang="en-US"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React, Vite</a:t>
            </a:r>
            <a:endParaRPr lang="en-IN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8328" y="5228206"/>
            <a:ext cx="447963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Krishna Kumar J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241901505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08891" y="1213137"/>
            <a:ext cx="10515600" cy="1060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Computer Science and Engineering </a:t>
            </a:r>
          </a:p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(Cyber Security)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2ABC60-AF57-3F89-6270-EF5EDC1DC0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39" y="194915"/>
            <a:ext cx="2689499" cy="86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THE INDUSTRY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Intro"/>
          <p:cNvSpPr txBox="1"/>
          <p:nvPr/>
        </p:nvSpPr>
        <p:spPr>
          <a:xfrm>
            <a:off x="758952" y="1828800"/>
            <a:ext cx="548640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b="0" i="0" dirty="0">
                <a:solidFill>
                  <a:srgbClr val="262626"/>
                </a:solidFill>
                <a:latin typeface="Calibri"/>
                <a:cs typeface="Calibri"/>
              </a:rPr>
              <a:t>Websites help businesses establish an online presence, communicate their services, build credibility and connect with customers.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262626"/>
                </a:solidFill>
                <a:latin typeface="Calibri"/>
                <a:cs typeface="Calibri"/>
              </a:rPr>
              <a:t>A well-built site turns a studio’s identity and services into an experience visitors can explore, trust and act on.</a:t>
            </a:r>
          </a:p>
        </p:txBody>
      </p:sp>
      <p:sp>
        <p:nvSpPr>
          <p:cNvPr id="102" name="Relevance"/>
          <p:cNvSpPr/>
          <p:nvPr/>
        </p:nvSpPr>
        <p:spPr>
          <a:xfrm>
            <a:off x="758952" y="4343400"/>
            <a:ext cx="5486400" cy="1508760"/>
          </a:xfrm>
          <a:prstGeom prst="roundRect">
            <a:avLst>
              <a:gd name="adj" fmla="val 6000"/>
            </a:avLst>
          </a:prstGeom>
          <a:solidFill>
            <a:srgbClr val="8B0000"/>
          </a:solidFill>
          <a:ln>
            <a:noFill/>
          </a:ln>
        </p:spPr>
        <p:txBody>
          <a:bodyPr wrap="square" lIns="228600" tIns="91440" rIns="228600" bIns="9144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Times New Roman"/>
                <a:cs typeface="Times New Roman"/>
              </a:rPr>
              <a:t>Relevance to Web Programming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>Frontend technologies combine structure, styling and interaction to create usable, responsive websites.</a:t>
            </a:r>
          </a:p>
        </p:txBody>
      </p:sp>
      <p:sp>
        <p:nvSpPr>
          <p:cNvPr id="103" name="Segment 1"/>
          <p:cNvSpPr/>
          <p:nvPr/>
        </p:nvSpPr>
        <p:spPr>
          <a:xfrm>
            <a:off x="6629400" y="1828800"/>
            <a:ext cx="48006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4" name="Badge 1"/>
          <p:cNvSpPr/>
          <p:nvPr/>
        </p:nvSpPr>
        <p:spPr>
          <a:xfrm>
            <a:off x="6858000" y="214884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105" name="Segment text 1"/>
          <p:cNvSpPr txBox="1"/>
          <p:nvPr/>
        </p:nvSpPr>
        <p:spPr>
          <a:xfrm>
            <a:off x="7589520" y="1938528"/>
            <a:ext cx="3703320" cy="9692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8B0000"/>
                </a:solidFill>
                <a:latin typeface="Times New Roman"/>
                <a:cs typeface="Times New Roman"/>
              </a:rPr>
              <a:t>Responsive Web Design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Layouts adapt to desktop, tablet and mobile devices.</a:t>
            </a:r>
          </a:p>
        </p:txBody>
      </p:sp>
      <p:sp>
        <p:nvSpPr>
          <p:cNvPr id="106" name="Segment 2"/>
          <p:cNvSpPr/>
          <p:nvPr/>
        </p:nvSpPr>
        <p:spPr>
          <a:xfrm>
            <a:off x="6629400" y="3200400"/>
            <a:ext cx="48006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7" name="Badge 2"/>
          <p:cNvSpPr/>
          <p:nvPr/>
        </p:nvSpPr>
        <p:spPr>
          <a:xfrm>
            <a:off x="6858000" y="352044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108" name="Segment text 2"/>
          <p:cNvSpPr txBox="1"/>
          <p:nvPr/>
        </p:nvSpPr>
        <p:spPr>
          <a:xfrm>
            <a:off x="7589520" y="3310128"/>
            <a:ext cx="3703320" cy="9692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8B0000"/>
                </a:solidFill>
                <a:latin typeface="Times New Roman"/>
                <a:cs typeface="Times New Roman"/>
              </a:rPr>
              <a:t>Interactive Experiences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Animations and interface interactions improve engagement.</a:t>
            </a:r>
          </a:p>
        </p:txBody>
      </p:sp>
      <p:sp>
        <p:nvSpPr>
          <p:cNvPr id="109" name="Segment 3"/>
          <p:cNvSpPr/>
          <p:nvPr/>
        </p:nvSpPr>
        <p:spPr>
          <a:xfrm>
            <a:off x="6629400" y="4572000"/>
            <a:ext cx="48006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0" name="Badge 3"/>
          <p:cNvSpPr/>
          <p:nvPr/>
        </p:nvSpPr>
        <p:spPr>
          <a:xfrm>
            <a:off x="6858000" y="489204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111" name="Segment text 3"/>
          <p:cNvSpPr txBox="1"/>
          <p:nvPr/>
        </p:nvSpPr>
        <p:spPr>
          <a:xfrm>
            <a:off x="7589520" y="4681728"/>
            <a:ext cx="3703320" cy="9692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 i="0" dirty="0">
                <a:solidFill>
                  <a:srgbClr val="8B0000"/>
                </a:solidFill>
                <a:latin typeface="Times New Roman"/>
                <a:cs typeface="Times New Roman"/>
              </a:rPr>
              <a:t>Digital Business Presence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Websites showcase services and let customers send inquiries.</a:t>
            </a:r>
          </a:p>
        </p:txBody>
      </p:sp>
      <p:sp>
        <p:nvSpPr>
          <p:cNvPr id="112" name="Footer"/>
          <p:cNvSpPr txBox="1"/>
          <p:nvPr/>
        </p:nvSpPr>
        <p:spPr>
          <a:xfrm>
            <a:off x="758952" y="6291072"/>
            <a:ext cx="106710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KrX Studio  |  Krishna Kumar  |  [INSERT YOUR REGISTER NUMBER]  |  2 / 8</a:t>
            </a: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721B2E-B8C7-05B9-5F04-C112E1E34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ED4AC-7B43-3850-D243-BCD132E2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OBJECTIVE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Problem card"/>
          <p:cNvSpPr/>
          <p:nvPr/>
        </p:nvSpPr>
        <p:spPr>
          <a:xfrm>
            <a:off x="758952" y="1828800"/>
            <a:ext cx="507492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2" name="Problem header"/>
          <p:cNvSpPr txBox="1"/>
          <p:nvPr/>
        </p:nvSpPr>
        <p:spPr>
          <a:xfrm>
            <a:off x="1005840" y="196596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8B0000"/>
                </a:solidFill>
                <a:latin typeface="Times New Roman"/>
                <a:cs typeface="Times New Roman"/>
              </a:rPr>
              <a:t>Problem Statement</a:t>
            </a:r>
          </a:p>
        </p:txBody>
      </p:sp>
      <p:sp>
        <p:nvSpPr>
          <p:cNvPr id="103" name="Problem 1"/>
          <p:cNvSpPr/>
          <p:nvPr/>
        </p:nvSpPr>
        <p:spPr>
          <a:xfrm>
            <a:off x="1005840" y="265176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104" name="Problem text 1"/>
          <p:cNvSpPr txBox="1"/>
          <p:nvPr/>
        </p:nvSpPr>
        <p:spPr>
          <a:xfrm>
            <a:off x="1645920" y="2560320"/>
            <a:ext cx="402336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262626"/>
                </a:solidFill>
                <a:latin typeface="Calibri"/>
                <a:cs typeface="Calibri"/>
              </a:rPr>
              <a:t>Limited Online Presence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Businesses need professional websites to present their identity and services.</a:t>
            </a:r>
          </a:p>
        </p:txBody>
      </p:sp>
      <p:sp>
        <p:nvSpPr>
          <p:cNvPr id="105" name="Problem 2"/>
          <p:cNvSpPr/>
          <p:nvPr/>
        </p:nvSpPr>
        <p:spPr>
          <a:xfrm>
            <a:off x="1005840" y="374904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106" name="Problem text 2"/>
          <p:cNvSpPr txBox="1"/>
          <p:nvPr/>
        </p:nvSpPr>
        <p:spPr>
          <a:xfrm>
            <a:off x="1645920" y="3657600"/>
            <a:ext cx="402336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262626"/>
                </a:solidFill>
                <a:latin typeface="Calibri"/>
                <a:cs typeface="Calibri"/>
              </a:rPr>
              <a:t>Inconsistent User Experience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Poorly structured websites can be difficult to use on different devices.</a:t>
            </a:r>
          </a:p>
        </p:txBody>
      </p:sp>
      <p:sp>
        <p:nvSpPr>
          <p:cNvPr id="107" name="Problem 3"/>
          <p:cNvSpPr/>
          <p:nvPr/>
        </p:nvSpPr>
        <p:spPr>
          <a:xfrm>
            <a:off x="1005840" y="484632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108" name="Problem text 3"/>
          <p:cNvSpPr txBox="1"/>
          <p:nvPr/>
        </p:nvSpPr>
        <p:spPr>
          <a:xfrm>
            <a:off x="1645920" y="4754880"/>
            <a:ext cx="402336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>
                <a:solidFill>
                  <a:srgbClr val="262626"/>
                </a:solidFill>
                <a:latin typeface="Calibri"/>
                <a:cs typeface="Calibri"/>
              </a:rPr>
              <a:t>Low Engagement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Unclear navigation makes it hard to explore services or send inquiries.</a:t>
            </a:r>
          </a:p>
        </p:txBody>
      </p:sp>
      <p:sp>
        <p:nvSpPr>
          <p:cNvPr id="109" name="Objective card"/>
          <p:cNvSpPr/>
          <p:nvPr/>
        </p:nvSpPr>
        <p:spPr>
          <a:xfrm>
            <a:off x="6172200" y="1828800"/>
            <a:ext cx="525780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0" name="Objective header"/>
          <p:cNvSpPr txBox="1"/>
          <p:nvPr/>
        </p:nvSpPr>
        <p:spPr>
          <a:xfrm>
            <a:off x="6400800" y="196596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8B0000"/>
                </a:solidFill>
                <a:latin typeface="Times New Roman"/>
                <a:cs typeface="Times New Roman"/>
              </a:rPr>
              <a:t>Objectives of KrX Studio</a:t>
            </a:r>
          </a:p>
        </p:txBody>
      </p:sp>
      <p:sp>
        <p:nvSpPr>
          <p:cNvPr id="111" name="Objective dot 1"/>
          <p:cNvSpPr/>
          <p:nvPr/>
        </p:nvSpPr>
        <p:spPr>
          <a:xfrm>
            <a:off x="6446520" y="2770632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2" name="Objective 1"/>
          <p:cNvSpPr txBox="1"/>
          <p:nvPr/>
        </p:nvSpPr>
        <p:spPr>
          <a:xfrm>
            <a:off x="6858000" y="2560320"/>
            <a:ext cx="43891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Present the studio and its services through a modern website</a:t>
            </a:r>
          </a:p>
        </p:txBody>
      </p:sp>
      <p:sp>
        <p:nvSpPr>
          <p:cNvPr id="113" name="Objective dot 2"/>
          <p:cNvSpPr/>
          <p:nvPr/>
        </p:nvSpPr>
        <p:spPr>
          <a:xfrm>
            <a:off x="6446520" y="3429000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4" name="Objective 2"/>
          <p:cNvSpPr txBox="1"/>
          <p:nvPr/>
        </p:nvSpPr>
        <p:spPr>
          <a:xfrm>
            <a:off x="6858000" y="3218688"/>
            <a:ext cx="43891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Provide responsive layouts for different screen sizes</a:t>
            </a:r>
          </a:p>
        </p:txBody>
      </p:sp>
      <p:sp>
        <p:nvSpPr>
          <p:cNvPr id="115" name="Objective dot 3"/>
          <p:cNvSpPr/>
          <p:nvPr/>
        </p:nvSpPr>
        <p:spPr>
          <a:xfrm>
            <a:off x="6446520" y="4087368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6" name="Objective 3"/>
          <p:cNvSpPr txBox="1"/>
          <p:nvPr/>
        </p:nvSpPr>
        <p:spPr>
          <a:xfrm>
            <a:off x="6858000" y="3877056"/>
            <a:ext cx="43891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Use interactive components and animations to enhance the experience</a:t>
            </a:r>
          </a:p>
        </p:txBody>
      </p:sp>
      <p:sp>
        <p:nvSpPr>
          <p:cNvPr id="117" name="Objective dot 4"/>
          <p:cNvSpPr/>
          <p:nvPr/>
        </p:nvSpPr>
        <p:spPr>
          <a:xfrm>
            <a:off x="6446520" y="4745736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8" name="Objective 4"/>
          <p:cNvSpPr txBox="1"/>
          <p:nvPr/>
        </p:nvSpPr>
        <p:spPr>
          <a:xfrm>
            <a:off x="6858000" y="4535424"/>
            <a:ext cx="43891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Provide clear calls to action and a project inquiry form</a:t>
            </a:r>
          </a:p>
        </p:txBody>
      </p:sp>
      <p:sp>
        <p:nvSpPr>
          <p:cNvPr id="119" name="Objective dot 5"/>
          <p:cNvSpPr/>
          <p:nvPr/>
        </p:nvSpPr>
        <p:spPr>
          <a:xfrm>
            <a:off x="6446520" y="5404104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20" name="Objective 5"/>
          <p:cNvSpPr txBox="1"/>
          <p:nvPr/>
        </p:nvSpPr>
        <p:spPr>
          <a:xfrm>
            <a:off x="6858000" y="5193792"/>
            <a:ext cx="43891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Organize the frontend with reusable React components and clean CSS</a:t>
            </a:r>
          </a:p>
        </p:txBody>
      </p:sp>
      <p:sp>
        <p:nvSpPr>
          <p:cNvPr id="121" name="Footer"/>
          <p:cNvSpPr txBox="1"/>
          <p:nvPr/>
        </p:nvSpPr>
        <p:spPr>
          <a:xfrm>
            <a:off x="758952" y="6291072"/>
            <a:ext cx="106710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KrX Studio  |  Krishna Kumar  |  [INSERT YOUR REGISTER NUMBER]  |  3 / 8</a:t>
            </a:r>
          </a:p>
        </p:txBody>
      </p:sp>
    </p:spTree>
    <p:extLst>
      <p:ext uri="{BB962C8B-B14F-4D97-AF65-F5344CB8AC3E}">
        <p14:creationId xmlns:p14="http://schemas.microsoft.com/office/powerpoint/2010/main" val="4252642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7CF5D-142D-473C-E195-36EB23B99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D407-BAD9-643C-0875-B881EC2A5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Tool card 1"/>
          <p:cNvSpPr/>
          <p:nvPr/>
        </p:nvSpPr>
        <p:spPr>
          <a:xfrm>
            <a:off x="758952" y="1828800"/>
            <a:ext cx="3374136" cy="1874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2" name="Tool badge 1"/>
          <p:cNvSpPr/>
          <p:nvPr/>
        </p:nvSpPr>
        <p:spPr>
          <a:xfrm>
            <a:off x="987552" y="2057400"/>
            <a:ext cx="685800" cy="68580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Re</a:t>
            </a:r>
          </a:p>
        </p:txBody>
      </p:sp>
      <p:sp>
        <p:nvSpPr>
          <p:cNvPr id="103" name="Tool name 1"/>
          <p:cNvSpPr txBox="1"/>
          <p:nvPr/>
        </p:nvSpPr>
        <p:spPr>
          <a:xfrm>
            <a:off x="1810512" y="2011680"/>
            <a:ext cx="2185416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100" b="1" i="0" dirty="0">
                <a:solidFill>
                  <a:srgbClr val="7030A0"/>
                </a:solidFill>
                <a:latin typeface="Calibri"/>
                <a:cs typeface="Calibri"/>
              </a:rPr>
              <a:t>FRONTEND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8B0000"/>
                </a:solidFill>
                <a:latin typeface="Times New Roman"/>
                <a:cs typeface="Times New Roman"/>
              </a:rPr>
              <a:t>React</a:t>
            </a:r>
          </a:p>
        </p:txBody>
      </p:sp>
      <p:sp>
        <p:nvSpPr>
          <p:cNvPr id="104" name="Tool desc 1"/>
          <p:cNvSpPr txBox="1"/>
          <p:nvPr/>
        </p:nvSpPr>
        <p:spPr>
          <a:xfrm>
            <a:off x="987552" y="2926080"/>
            <a:ext cx="291693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Reusable components for the website interface and sections.</a:t>
            </a:r>
          </a:p>
        </p:txBody>
      </p:sp>
      <p:sp>
        <p:nvSpPr>
          <p:cNvPr id="105" name="Tool card 2"/>
          <p:cNvSpPr/>
          <p:nvPr/>
        </p:nvSpPr>
        <p:spPr>
          <a:xfrm>
            <a:off x="4407408" y="1828800"/>
            <a:ext cx="3374136" cy="1874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6" name="Tool badge 2"/>
          <p:cNvSpPr/>
          <p:nvPr/>
        </p:nvSpPr>
        <p:spPr>
          <a:xfrm>
            <a:off x="4636008" y="2057400"/>
            <a:ext cx="685800" cy="6858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JS</a:t>
            </a:r>
          </a:p>
        </p:txBody>
      </p:sp>
      <p:sp>
        <p:nvSpPr>
          <p:cNvPr id="107" name="Tool name 2"/>
          <p:cNvSpPr txBox="1"/>
          <p:nvPr/>
        </p:nvSpPr>
        <p:spPr>
          <a:xfrm>
            <a:off x="5458968" y="2011680"/>
            <a:ext cx="2185416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100" b="1" i="0" dirty="0">
                <a:solidFill>
                  <a:srgbClr val="7030A0"/>
                </a:solidFill>
                <a:latin typeface="Calibri"/>
                <a:cs typeface="Calibri"/>
              </a:rPr>
              <a:t>LANGUAGE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8B0000"/>
                </a:solidFill>
                <a:latin typeface="Times New Roman"/>
                <a:cs typeface="Times New Roman"/>
              </a:rPr>
              <a:t>JavaScript / JSX</a:t>
            </a:r>
          </a:p>
        </p:txBody>
      </p:sp>
      <p:sp>
        <p:nvSpPr>
          <p:cNvPr id="108" name="Tool desc 2"/>
          <p:cNvSpPr txBox="1"/>
          <p:nvPr/>
        </p:nvSpPr>
        <p:spPr>
          <a:xfrm>
            <a:off x="4636008" y="2926080"/>
            <a:ext cx="291693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Client-side interaction, component logic and dynamic behavior.</a:t>
            </a:r>
          </a:p>
        </p:txBody>
      </p:sp>
      <p:sp>
        <p:nvSpPr>
          <p:cNvPr id="109" name="Tool card 3"/>
          <p:cNvSpPr/>
          <p:nvPr/>
        </p:nvSpPr>
        <p:spPr>
          <a:xfrm>
            <a:off x="8055864" y="1828800"/>
            <a:ext cx="3374136" cy="1874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0" name="Tool badge 3"/>
          <p:cNvSpPr/>
          <p:nvPr/>
        </p:nvSpPr>
        <p:spPr>
          <a:xfrm>
            <a:off x="8284464" y="2057400"/>
            <a:ext cx="685800" cy="68580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H5</a:t>
            </a:r>
          </a:p>
        </p:txBody>
      </p:sp>
      <p:sp>
        <p:nvSpPr>
          <p:cNvPr id="111" name="Tool name 3"/>
          <p:cNvSpPr txBox="1"/>
          <p:nvPr/>
        </p:nvSpPr>
        <p:spPr>
          <a:xfrm>
            <a:off x="9107424" y="2011680"/>
            <a:ext cx="2185416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100" b="1" i="0" dirty="0">
                <a:solidFill>
                  <a:srgbClr val="7030A0"/>
                </a:solidFill>
                <a:latin typeface="Calibri"/>
                <a:cs typeface="Calibri"/>
              </a:rPr>
              <a:t>STRUCTURE / STYLING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8B0000"/>
                </a:solidFill>
                <a:latin typeface="Times New Roman"/>
                <a:cs typeface="Times New Roman"/>
              </a:rPr>
              <a:t>HTML5 and CSS3</a:t>
            </a:r>
          </a:p>
        </p:txBody>
      </p:sp>
      <p:sp>
        <p:nvSpPr>
          <p:cNvPr id="112" name="Tool desc 3"/>
          <p:cNvSpPr txBox="1"/>
          <p:nvPr/>
        </p:nvSpPr>
        <p:spPr>
          <a:xfrm>
            <a:off x="8284464" y="2926080"/>
            <a:ext cx="291693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Page structure, responsive layouts, typography and visual styling.</a:t>
            </a:r>
          </a:p>
        </p:txBody>
      </p:sp>
      <p:sp>
        <p:nvSpPr>
          <p:cNvPr id="113" name="Tool card 4"/>
          <p:cNvSpPr/>
          <p:nvPr/>
        </p:nvSpPr>
        <p:spPr>
          <a:xfrm>
            <a:off x="758952" y="3977640"/>
            <a:ext cx="3374136" cy="1874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4" name="Tool badge 4"/>
          <p:cNvSpPr/>
          <p:nvPr/>
        </p:nvSpPr>
        <p:spPr>
          <a:xfrm>
            <a:off x="987552" y="4206240"/>
            <a:ext cx="685800" cy="6858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Vi</a:t>
            </a:r>
          </a:p>
        </p:txBody>
      </p:sp>
      <p:sp>
        <p:nvSpPr>
          <p:cNvPr id="115" name="Tool name 4"/>
          <p:cNvSpPr txBox="1"/>
          <p:nvPr/>
        </p:nvSpPr>
        <p:spPr>
          <a:xfrm>
            <a:off x="1810512" y="4160520"/>
            <a:ext cx="2185416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100" b="1" i="0" dirty="0">
                <a:solidFill>
                  <a:srgbClr val="7030A0"/>
                </a:solidFill>
                <a:latin typeface="Calibri"/>
                <a:cs typeface="Calibri"/>
              </a:rPr>
              <a:t>TOOLING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8B0000"/>
                </a:solidFill>
                <a:latin typeface="Times New Roman"/>
                <a:cs typeface="Times New Roman"/>
              </a:rPr>
              <a:t>Vite</a:t>
            </a:r>
          </a:p>
        </p:txBody>
      </p:sp>
      <p:sp>
        <p:nvSpPr>
          <p:cNvPr id="116" name="Tool desc 4"/>
          <p:cNvSpPr txBox="1"/>
          <p:nvPr/>
        </p:nvSpPr>
        <p:spPr>
          <a:xfrm>
            <a:off x="987552" y="5074920"/>
            <a:ext cx="291693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Development server and frontend production build process.</a:t>
            </a:r>
          </a:p>
        </p:txBody>
      </p:sp>
      <p:sp>
        <p:nvSpPr>
          <p:cNvPr id="117" name="Tool card 5"/>
          <p:cNvSpPr/>
          <p:nvPr/>
        </p:nvSpPr>
        <p:spPr>
          <a:xfrm>
            <a:off x="4407408" y="3977640"/>
            <a:ext cx="3374136" cy="1874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8" name="Tool badge 5"/>
          <p:cNvSpPr/>
          <p:nvPr/>
        </p:nvSpPr>
        <p:spPr>
          <a:xfrm>
            <a:off x="4636008" y="4206240"/>
            <a:ext cx="685800" cy="68580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GS</a:t>
            </a:r>
          </a:p>
        </p:txBody>
      </p:sp>
      <p:sp>
        <p:nvSpPr>
          <p:cNvPr id="119" name="Tool name 5"/>
          <p:cNvSpPr txBox="1"/>
          <p:nvPr/>
        </p:nvSpPr>
        <p:spPr>
          <a:xfrm>
            <a:off x="5458968" y="4160520"/>
            <a:ext cx="2185416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100" b="1" i="0" dirty="0">
                <a:solidFill>
                  <a:srgbClr val="7030A0"/>
                </a:solidFill>
                <a:latin typeface="Calibri"/>
                <a:cs typeface="Calibri"/>
              </a:rPr>
              <a:t>ANIMATION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8B0000"/>
                </a:solidFill>
                <a:latin typeface="Times New Roman"/>
                <a:cs typeface="Times New Roman"/>
              </a:rPr>
              <a:t>GSAP</a:t>
            </a:r>
          </a:p>
        </p:txBody>
      </p:sp>
      <p:sp>
        <p:nvSpPr>
          <p:cNvPr id="120" name="Tool desc 5"/>
          <p:cNvSpPr txBox="1"/>
          <p:nvPr/>
        </p:nvSpPr>
        <p:spPr>
          <a:xfrm>
            <a:off x="4636008" y="5074920"/>
            <a:ext cx="291693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Interactive animations for the website interface.</a:t>
            </a:r>
          </a:p>
        </p:txBody>
      </p:sp>
      <p:sp>
        <p:nvSpPr>
          <p:cNvPr id="121" name="Tool card 6"/>
          <p:cNvSpPr/>
          <p:nvPr/>
        </p:nvSpPr>
        <p:spPr>
          <a:xfrm>
            <a:off x="8055864" y="3977640"/>
            <a:ext cx="3374136" cy="1874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22" name="Tool badge 6"/>
          <p:cNvSpPr/>
          <p:nvPr/>
        </p:nvSpPr>
        <p:spPr>
          <a:xfrm>
            <a:off x="8284464" y="4206240"/>
            <a:ext cx="685800" cy="6858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Times New Roman"/>
                <a:cs typeface="Times New Roman"/>
              </a:rPr>
              <a:t>W3</a:t>
            </a:r>
          </a:p>
        </p:txBody>
      </p:sp>
      <p:sp>
        <p:nvSpPr>
          <p:cNvPr id="123" name="Tool name 6"/>
          <p:cNvSpPr txBox="1"/>
          <p:nvPr/>
        </p:nvSpPr>
        <p:spPr>
          <a:xfrm>
            <a:off x="9107424" y="4160520"/>
            <a:ext cx="2185416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100" b="1" i="0" dirty="0">
                <a:solidFill>
                  <a:srgbClr val="7030A0"/>
                </a:solidFill>
                <a:latin typeface="Calibri"/>
                <a:cs typeface="Calibri"/>
              </a:rPr>
              <a:t>BACKEND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8B0000"/>
                </a:solidFill>
                <a:latin typeface="Times New Roman"/>
                <a:cs typeface="Times New Roman"/>
              </a:rPr>
              <a:t>Web3Forms</a:t>
            </a:r>
          </a:p>
        </p:txBody>
      </p:sp>
      <p:sp>
        <p:nvSpPr>
          <p:cNvPr id="124" name="Tool desc 6"/>
          <p:cNvSpPr txBox="1"/>
          <p:nvPr/>
        </p:nvSpPr>
        <p:spPr>
          <a:xfrm>
            <a:off x="8284464" y="5074920"/>
            <a:ext cx="291693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Sends project inquiry submissions via an external form service.</a:t>
            </a:r>
          </a:p>
        </p:txBody>
      </p:sp>
      <p:sp>
        <p:nvSpPr>
          <p:cNvPr id="125" name="Footer"/>
          <p:cNvSpPr txBox="1"/>
          <p:nvPr/>
        </p:nvSpPr>
        <p:spPr>
          <a:xfrm>
            <a:off x="758952" y="6291072"/>
            <a:ext cx="106710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KrX Studio  |  Krishna Kumar  |  [INSERT YOUR REGISTER NUMBER]  |  4 / 8</a:t>
            </a:r>
          </a:p>
        </p:txBody>
      </p:sp>
    </p:spTree>
    <p:extLst>
      <p:ext uri="{BB962C8B-B14F-4D97-AF65-F5344CB8AC3E}">
        <p14:creationId xmlns:p14="http://schemas.microsoft.com/office/powerpoint/2010/main" val="3617216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7CF5D-142D-473C-E195-36EB23B99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D407-BAD9-643C-0875-B881EC2A5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AND IMPLEMENTATION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Flow box 1"/>
          <p:cNvSpPr/>
          <p:nvPr/>
        </p:nvSpPr>
        <p:spPr>
          <a:xfrm>
            <a:off x="758952" y="1828800"/>
            <a:ext cx="2240280" cy="1325880"/>
          </a:xfrm>
          <a:prstGeom prst="roundRect">
            <a:avLst>
              <a:gd name="adj" fmla="val 8000"/>
            </a:avLst>
          </a:prstGeom>
          <a:solidFill>
            <a:srgbClr val="8B0000"/>
          </a:solidFill>
          <a:ln>
            <a:noFill/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1. Browser UI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>HTML, React components, JavaScript and CSS</a:t>
            </a:r>
          </a:p>
        </p:txBody>
      </p:sp>
      <p:sp>
        <p:nvSpPr>
          <p:cNvPr id="102" name="Flow arrow 1"/>
          <p:cNvSpPr/>
          <p:nvPr/>
        </p:nvSpPr>
        <p:spPr>
          <a:xfrm>
            <a:off x="3090672" y="2350008"/>
            <a:ext cx="384048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3" name="Flow box 2"/>
          <p:cNvSpPr/>
          <p:nvPr/>
        </p:nvSpPr>
        <p:spPr>
          <a:xfrm>
            <a:off x="3566160" y="1828800"/>
            <a:ext cx="2240280" cy="132588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Times New Roman"/>
                <a:cs typeface="Times New Roman"/>
              </a:rPr>
              <a:t>2. Interaction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>Navigation, responsive controls, animations</a:t>
            </a:r>
          </a:p>
        </p:txBody>
      </p:sp>
      <p:sp>
        <p:nvSpPr>
          <p:cNvPr id="104" name="Flow arrow 2"/>
          <p:cNvSpPr/>
          <p:nvPr/>
        </p:nvSpPr>
        <p:spPr>
          <a:xfrm>
            <a:off x="5897880" y="2350008"/>
            <a:ext cx="384048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5" name="Flow box 3"/>
          <p:cNvSpPr/>
          <p:nvPr/>
        </p:nvSpPr>
        <p:spPr>
          <a:xfrm>
            <a:off x="6373368" y="1828800"/>
            <a:ext cx="2240280" cy="1325880"/>
          </a:xfrm>
          <a:prstGeom prst="roundRect">
            <a:avLst>
              <a:gd name="adj" fmla="val 8000"/>
            </a:avLst>
          </a:prstGeom>
          <a:solidFill>
            <a:srgbClr val="8B0000"/>
          </a:solidFill>
          <a:ln>
            <a:noFill/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Times New Roman"/>
                <a:cs typeface="Times New Roman"/>
              </a:rPr>
              <a:t>3. Inquiry Form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>Project inquiry form connected to Web3Forms</a:t>
            </a:r>
          </a:p>
        </p:txBody>
      </p:sp>
      <p:sp>
        <p:nvSpPr>
          <p:cNvPr id="106" name="Flow arrow 3"/>
          <p:cNvSpPr/>
          <p:nvPr/>
        </p:nvSpPr>
        <p:spPr>
          <a:xfrm>
            <a:off x="8705088" y="2350008"/>
            <a:ext cx="384048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7" name="Flow box 4"/>
          <p:cNvSpPr/>
          <p:nvPr/>
        </p:nvSpPr>
        <p:spPr>
          <a:xfrm>
            <a:off x="9180576" y="1828800"/>
            <a:ext cx="2240280" cy="132588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109728" tIns="73152" rIns="109728" bIns="73152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700" b="1" i="0" dirty="0">
                <a:solidFill>
                  <a:srgbClr val="FFFFFF"/>
                </a:solidFill>
                <a:latin typeface="Times New Roman"/>
                <a:cs typeface="Times New Roman"/>
              </a:rPr>
              <a:t>4. Vite 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FFFFFF"/>
                </a:solidFill>
                <a:latin typeface="Calibri"/>
                <a:cs typeface="Calibri"/>
              </a:rPr>
              <a:t>Vite builds the frontend for static hosting</a:t>
            </a:r>
          </a:p>
        </p:txBody>
      </p:sp>
      <p:sp>
        <p:nvSpPr>
          <p:cNvPr id="108" name="User module"/>
          <p:cNvSpPr/>
          <p:nvPr/>
        </p:nvSpPr>
        <p:spPr>
          <a:xfrm>
            <a:off x="758952" y="3429000"/>
            <a:ext cx="521208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9" name="User module header"/>
          <p:cNvSpPr txBox="1"/>
          <p:nvPr/>
        </p:nvSpPr>
        <p:spPr>
          <a:xfrm>
            <a:off x="987552" y="352044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8B0000"/>
                </a:solidFill>
                <a:latin typeface="Times New Roman"/>
                <a:cs typeface="Times New Roman"/>
              </a:rPr>
              <a:t>Website Modules</a:t>
            </a:r>
          </a:p>
        </p:txBody>
      </p:sp>
      <p:sp>
        <p:nvSpPr>
          <p:cNvPr id="110" name="User module list"/>
          <p:cNvSpPr txBox="1"/>
          <p:nvPr/>
        </p:nvSpPr>
        <p:spPr>
          <a:xfrm>
            <a:off x="987552" y="4023360"/>
            <a:ext cx="4754880" cy="1783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Hero section introducing the studio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Services section describing the offerings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Navigation and interactive visual effects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Project inquiry and contact functionality</a:t>
            </a:r>
          </a:p>
        </p:txBody>
      </p:sp>
      <p:sp>
        <p:nvSpPr>
          <p:cNvPr id="111" name="Trainer module"/>
          <p:cNvSpPr/>
          <p:nvPr/>
        </p:nvSpPr>
        <p:spPr>
          <a:xfrm>
            <a:off x="6217920" y="3429000"/>
            <a:ext cx="521208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2" name="Trainer module header"/>
          <p:cNvSpPr txBox="1"/>
          <p:nvPr/>
        </p:nvSpPr>
        <p:spPr>
          <a:xfrm>
            <a:off x="6446520" y="352044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8B0000"/>
                </a:solidFill>
                <a:latin typeface="Times New Roman"/>
                <a:cs typeface="Times New Roman"/>
              </a:rPr>
              <a:t>Responsive Implementation</a:t>
            </a:r>
          </a:p>
        </p:txBody>
      </p:sp>
      <p:sp>
        <p:nvSpPr>
          <p:cNvPr id="113" name="Trainer module list"/>
          <p:cNvSpPr txBox="1"/>
          <p:nvPr/>
        </p:nvSpPr>
        <p:spPr>
          <a:xfrm>
            <a:off x="6446520" y="4023360"/>
            <a:ext cx="4754880" cy="1783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Reusable React components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CSS media queries and responsive layouts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Client-side animation and interaction effects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Form integration and production build verification</a:t>
            </a:r>
          </a:p>
        </p:txBody>
      </p:sp>
      <p:sp>
        <p:nvSpPr>
          <p:cNvPr id="114" name="Footer"/>
          <p:cNvSpPr txBox="1"/>
          <p:nvPr/>
        </p:nvSpPr>
        <p:spPr>
          <a:xfrm>
            <a:off x="758952" y="6291072"/>
            <a:ext cx="106710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KrX Studio  |  Krishna Kumar  |  [INSERT YOUR REGISTER NUMBER]  |  5 / 8</a:t>
            </a:r>
          </a:p>
        </p:txBody>
      </p:sp>
    </p:spTree>
    <p:extLst>
      <p:ext uri="{BB962C8B-B14F-4D97-AF65-F5344CB8AC3E}">
        <p14:creationId xmlns:p14="http://schemas.microsoft.com/office/powerpoint/2010/main" val="3617216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7CF5D-142D-473C-E195-36EB23B99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D407-BAD9-643C-0875-B881EC2A5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 STRUCTURE AND SECURITY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Database card"/>
          <p:cNvSpPr/>
          <p:nvPr/>
        </p:nvSpPr>
        <p:spPr>
          <a:xfrm>
            <a:off x="758952" y="1828800"/>
            <a:ext cx="484632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2" name="Database header"/>
          <p:cNvSpPr txBox="1"/>
          <p:nvPr/>
        </p:nvSpPr>
        <p:spPr>
          <a:xfrm>
            <a:off x="987552" y="1938528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8B0000"/>
                </a:solidFill>
                <a:latin typeface="Times New Roman"/>
                <a:cs typeface="Times New Roman"/>
              </a:rPr>
              <a:t>Website Structure</a:t>
            </a:r>
          </a:p>
        </p:txBody>
      </p:sp>
      <p:sp>
        <p:nvSpPr>
          <p:cNvPr id="103" name="Table chip 1"/>
          <p:cNvSpPr/>
          <p:nvPr/>
        </p:nvSpPr>
        <p:spPr>
          <a:xfrm>
            <a:off x="987552" y="25146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BEEEE"/>
          </a:solidFill>
          <a:ln w="9525">
            <a:solidFill>
              <a:srgbClr val="E2CFCF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8B0000"/>
                </a:solidFill>
                <a:latin typeface="Calibri"/>
                <a:cs typeface="Calibri"/>
              </a:rPr>
              <a:t>React components</a:t>
            </a:r>
          </a:p>
        </p:txBody>
      </p:sp>
      <p:sp>
        <p:nvSpPr>
          <p:cNvPr id="104" name="Table chip 2"/>
          <p:cNvSpPr/>
          <p:nvPr/>
        </p:nvSpPr>
        <p:spPr>
          <a:xfrm>
            <a:off x="3182112" y="25146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BEEEE"/>
          </a:solidFill>
          <a:ln w="9525">
            <a:solidFill>
              <a:srgbClr val="E2CFCF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8B0000"/>
                </a:solidFill>
                <a:latin typeface="Calibri"/>
                <a:cs typeface="Calibri"/>
              </a:rPr>
              <a:t>JavaScript / JSX</a:t>
            </a:r>
          </a:p>
        </p:txBody>
      </p:sp>
      <p:sp>
        <p:nvSpPr>
          <p:cNvPr id="105" name="Table chip 3"/>
          <p:cNvSpPr/>
          <p:nvPr/>
        </p:nvSpPr>
        <p:spPr>
          <a:xfrm>
            <a:off x="987552" y="3081528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BEEEE"/>
          </a:solidFill>
          <a:ln w="9525">
            <a:solidFill>
              <a:srgbClr val="E2CFCF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8B0000"/>
                </a:solidFill>
                <a:latin typeface="Calibri"/>
                <a:cs typeface="Calibri"/>
              </a:rPr>
              <a:t>CSS styles</a:t>
            </a:r>
          </a:p>
        </p:txBody>
      </p:sp>
      <p:sp>
        <p:nvSpPr>
          <p:cNvPr id="106" name="Table chip 4"/>
          <p:cNvSpPr/>
          <p:nvPr/>
        </p:nvSpPr>
        <p:spPr>
          <a:xfrm>
            <a:off x="3182112" y="3081528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BEEEE"/>
          </a:solidFill>
          <a:ln w="9525">
            <a:solidFill>
              <a:srgbClr val="E2CFCF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8B0000"/>
                </a:solidFill>
                <a:latin typeface="Calibri"/>
                <a:cs typeface="Calibri"/>
              </a:rPr>
              <a:t>Static assets</a:t>
            </a:r>
          </a:p>
        </p:txBody>
      </p:sp>
      <p:sp>
        <p:nvSpPr>
          <p:cNvPr id="107" name="Table chip 5"/>
          <p:cNvSpPr/>
          <p:nvPr/>
        </p:nvSpPr>
        <p:spPr>
          <a:xfrm>
            <a:off x="987552" y="3648456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BEEEE"/>
          </a:solidFill>
          <a:ln w="9525">
            <a:solidFill>
              <a:srgbClr val="E2CFCF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8B0000"/>
                </a:solidFill>
                <a:latin typeface="Calibri"/>
                <a:cs typeface="Calibri"/>
              </a:rPr>
              <a:t>Vite build</a:t>
            </a:r>
          </a:p>
        </p:txBody>
      </p:sp>
      <p:sp>
        <p:nvSpPr>
          <p:cNvPr id="108" name="Table chip 6"/>
          <p:cNvSpPr/>
          <p:nvPr/>
        </p:nvSpPr>
        <p:spPr>
          <a:xfrm>
            <a:off x="3182112" y="3648456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BEEEE"/>
          </a:solidFill>
          <a:ln w="9525">
            <a:solidFill>
              <a:srgbClr val="E2CFCF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8B0000"/>
                </a:solidFill>
                <a:latin typeface="Calibri"/>
                <a:cs typeface="Calibri"/>
              </a:rPr>
              <a:t>Web3Forms</a:t>
            </a:r>
          </a:p>
        </p:txBody>
      </p:sp>
      <p:sp>
        <p:nvSpPr>
          <p:cNvPr id="111" name="Database note"/>
          <p:cNvSpPr txBox="1"/>
          <p:nvPr/>
        </p:nvSpPr>
        <p:spPr>
          <a:xfrm>
            <a:off x="987552" y="4343400"/>
            <a:ext cx="438912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The website uses a React/Vite frontend and an external service for inquiry form submissions.</a:t>
            </a:r>
          </a:p>
        </p:txBody>
      </p:sp>
      <p:sp>
        <p:nvSpPr>
          <p:cNvPr id="112" name="Security card"/>
          <p:cNvSpPr/>
          <p:nvPr/>
        </p:nvSpPr>
        <p:spPr>
          <a:xfrm>
            <a:off x="5897880" y="1828800"/>
            <a:ext cx="553212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3" name="Security header"/>
          <p:cNvSpPr txBox="1"/>
          <p:nvPr/>
        </p:nvSpPr>
        <p:spPr>
          <a:xfrm>
            <a:off x="6126480" y="1938528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8B0000"/>
                </a:solidFill>
                <a:latin typeface="Times New Roman"/>
                <a:cs typeface="Times New Roman"/>
              </a:rPr>
              <a:t>Security and Quality</a:t>
            </a:r>
          </a:p>
        </p:txBody>
      </p:sp>
      <p:sp>
        <p:nvSpPr>
          <p:cNvPr id="114" name="Security badge 1"/>
          <p:cNvSpPr/>
          <p:nvPr/>
        </p:nvSpPr>
        <p:spPr>
          <a:xfrm>
            <a:off x="6126480" y="2542032"/>
            <a:ext cx="411480" cy="4114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115" name="Security item 1"/>
          <p:cNvSpPr txBox="1"/>
          <p:nvPr/>
        </p:nvSpPr>
        <p:spPr>
          <a:xfrm>
            <a:off x="6675120" y="246888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62626"/>
                </a:solidFill>
                <a:latin typeface="Calibri"/>
                <a:cs typeface="Calibri"/>
              </a:rPr>
              <a:t>Environment configuration: </a:t>
            </a: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Keep the Web3Forms access key in a Vite environment variable.</a:t>
            </a:r>
          </a:p>
        </p:txBody>
      </p:sp>
      <p:sp>
        <p:nvSpPr>
          <p:cNvPr id="116" name="Security badge 2"/>
          <p:cNvSpPr/>
          <p:nvPr/>
        </p:nvSpPr>
        <p:spPr>
          <a:xfrm>
            <a:off x="6126480" y="3218688"/>
            <a:ext cx="411480" cy="4114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117" name="Security item 2"/>
          <p:cNvSpPr txBox="1"/>
          <p:nvPr/>
        </p:nvSpPr>
        <p:spPr>
          <a:xfrm>
            <a:off x="6675120" y="3145536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62626"/>
                </a:solidFill>
                <a:latin typeface="Calibri"/>
                <a:cs typeface="Calibri"/>
              </a:rPr>
              <a:t>Repository hygiene: </a:t>
            </a: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Exclude local .env files and build artifacts from version control.</a:t>
            </a:r>
          </a:p>
        </p:txBody>
      </p:sp>
      <p:sp>
        <p:nvSpPr>
          <p:cNvPr id="118" name="Security badge 3"/>
          <p:cNvSpPr/>
          <p:nvPr/>
        </p:nvSpPr>
        <p:spPr>
          <a:xfrm>
            <a:off x="6126480" y="3895344"/>
            <a:ext cx="411480" cy="4114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119" name="Security item 3"/>
          <p:cNvSpPr txBox="1"/>
          <p:nvPr/>
        </p:nvSpPr>
        <p:spPr>
          <a:xfrm>
            <a:off x="6675120" y="3822192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62626"/>
                </a:solidFill>
                <a:latin typeface="Calibri"/>
                <a:cs typeface="Calibri"/>
              </a:rPr>
              <a:t>External links: </a:t>
            </a: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Use rel="noopener noreferrer" when opening links in new tabs.</a:t>
            </a:r>
          </a:p>
        </p:txBody>
      </p:sp>
      <p:sp>
        <p:nvSpPr>
          <p:cNvPr id="120" name="Security badge 4"/>
          <p:cNvSpPr/>
          <p:nvPr/>
        </p:nvSpPr>
        <p:spPr>
          <a:xfrm>
            <a:off x="6126480" y="4572000"/>
            <a:ext cx="411480" cy="4114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121" name="Security item 4"/>
          <p:cNvSpPr txBox="1"/>
          <p:nvPr/>
        </p:nvSpPr>
        <p:spPr>
          <a:xfrm>
            <a:off x="6675120" y="4498848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62626"/>
                </a:solidFill>
                <a:latin typeface="Calibri"/>
                <a:cs typeface="Calibri"/>
              </a:rPr>
              <a:t>Input handling: </a:t>
            </a: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Validate required inquiry fields and show clear submission feedback.</a:t>
            </a:r>
          </a:p>
        </p:txBody>
      </p:sp>
      <p:sp>
        <p:nvSpPr>
          <p:cNvPr id="122" name="Security badge 5"/>
          <p:cNvSpPr/>
          <p:nvPr/>
        </p:nvSpPr>
        <p:spPr>
          <a:xfrm>
            <a:off x="6126480" y="5248656"/>
            <a:ext cx="411480" cy="4114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</a:p>
        </p:txBody>
      </p:sp>
      <p:sp>
        <p:nvSpPr>
          <p:cNvPr id="123" name="Security item 5"/>
          <p:cNvSpPr txBox="1"/>
          <p:nvPr/>
        </p:nvSpPr>
        <p:spPr>
          <a:xfrm>
            <a:off x="6675120" y="5175504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62626"/>
                </a:solidFill>
                <a:latin typeface="Calibri"/>
                <a:cs typeface="Calibri"/>
              </a:rPr>
              <a:t>Testing: </a:t>
            </a:r>
            <a:r>
              <a:rPr lang="en-US" sz="1400" b="0" i="0" dirty="0">
                <a:solidFill>
                  <a:srgbClr val="262626"/>
                </a:solidFill>
                <a:latin typeface="Calibri"/>
                <a:cs typeface="Calibri"/>
              </a:rPr>
              <a:t>Verify navigation, form behavior, responsive layouts and production builds.</a:t>
            </a:r>
          </a:p>
        </p:txBody>
      </p:sp>
      <p:sp>
        <p:nvSpPr>
          <p:cNvPr id="124" name="Footer"/>
          <p:cNvSpPr txBox="1"/>
          <p:nvPr/>
        </p:nvSpPr>
        <p:spPr>
          <a:xfrm>
            <a:off x="758952" y="6291072"/>
            <a:ext cx="106710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KrX Studio  |  Krishna Kumar  |  [INSERT YOUR REGISTER NUMBER]  |  6 / 8</a:t>
            </a:r>
          </a:p>
        </p:txBody>
      </p:sp>
    </p:spTree>
    <p:extLst>
      <p:ext uri="{BB962C8B-B14F-4D97-AF65-F5344CB8AC3E}">
        <p14:creationId xmlns:p14="http://schemas.microsoft.com/office/powerpoint/2010/main" val="3617216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009753-C4D8-9F9F-5F3B-413B1F1F1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C0CA3-23DD-EDD9-49C4-2C279BCB2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Stat card 1"/>
          <p:cNvSpPr/>
          <p:nvPr/>
        </p:nvSpPr>
        <p:spPr>
          <a:xfrm>
            <a:off x="758952" y="1828800"/>
            <a:ext cx="24231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2" name="Stat value 1"/>
          <p:cNvSpPr txBox="1"/>
          <p:nvPr/>
        </p:nvSpPr>
        <p:spPr>
          <a:xfrm>
            <a:off x="758952" y="1920240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dirty="0">
                <a:solidFill>
                  <a:srgbClr val="8B0000"/>
                </a:solidFill>
                <a:latin typeface="Times New Roman"/>
                <a:cs typeface="Times New Roman"/>
              </a:rPr>
              <a:t>01</a:t>
            </a:r>
          </a:p>
        </p:txBody>
      </p:sp>
      <p:sp>
        <p:nvSpPr>
          <p:cNvPr id="103" name="Stat label 1"/>
          <p:cNvSpPr txBox="1"/>
          <p:nvPr/>
        </p:nvSpPr>
        <p:spPr>
          <a:xfrm>
            <a:off x="758952" y="269748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Digital Studio Website</a:t>
            </a:r>
          </a:p>
        </p:txBody>
      </p:sp>
      <p:sp>
        <p:nvSpPr>
          <p:cNvPr id="104" name="Stat card 2"/>
          <p:cNvSpPr/>
          <p:nvPr/>
        </p:nvSpPr>
        <p:spPr>
          <a:xfrm>
            <a:off x="3508248" y="1828800"/>
            <a:ext cx="24231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5" name="Stat value 2"/>
          <p:cNvSpPr txBox="1"/>
          <p:nvPr/>
        </p:nvSpPr>
        <p:spPr>
          <a:xfrm>
            <a:off x="3508248" y="1920240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dirty="0">
                <a:solidFill>
                  <a:srgbClr val="8B0000"/>
                </a:solidFill>
                <a:latin typeface="Times New Roman"/>
                <a:cs typeface="Times New Roman"/>
              </a:rPr>
              <a:t>01</a:t>
            </a:r>
          </a:p>
        </p:txBody>
      </p:sp>
      <p:sp>
        <p:nvSpPr>
          <p:cNvPr id="106" name="Stat label 2"/>
          <p:cNvSpPr txBox="1"/>
          <p:nvPr/>
        </p:nvSpPr>
        <p:spPr>
          <a:xfrm>
            <a:off x="3508248" y="269748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React + Vite Frontend</a:t>
            </a:r>
          </a:p>
        </p:txBody>
      </p:sp>
      <p:sp>
        <p:nvSpPr>
          <p:cNvPr id="107" name="Stat card 3"/>
          <p:cNvSpPr/>
          <p:nvPr/>
        </p:nvSpPr>
        <p:spPr>
          <a:xfrm>
            <a:off x="6257544" y="1828800"/>
            <a:ext cx="24231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8" name="Stat value 3"/>
          <p:cNvSpPr txBox="1"/>
          <p:nvPr/>
        </p:nvSpPr>
        <p:spPr>
          <a:xfrm>
            <a:off x="6257544" y="1920240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dirty="0">
                <a:solidFill>
                  <a:srgbClr val="8B0000"/>
                </a:solidFill>
                <a:latin typeface="Times New Roman"/>
                <a:cs typeface="Times New Roman"/>
              </a:rPr>
              <a:t>03</a:t>
            </a:r>
          </a:p>
        </p:txBody>
      </p:sp>
      <p:sp>
        <p:nvSpPr>
          <p:cNvPr id="109" name="Stat label 3"/>
          <p:cNvSpPr txBox="1"/>
          <p:nvPr/>
        </p:nvSpPr>
        <p:spPr>
          <a:xfrm>
            <a:off x="6257544" y="269748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Target Device Classes</a:t>
            </a:r>
          </a:p>
        </p:txBody>
      </p:sp>
      <p:sp>
        <p:nvSpPr>
          <p:cNvPr id="110" name="Stat card 4"/>
          <p:cNvSpPr/>
          <p:nvPr/>
        </p:nvSpPr>
        <p:spPr>
          <a:xfrm>
            <a:off x="9006840" y="1828800"/>
            <a:ext cx="24231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1" name="Stat value 4"/>
          <p:cNvSpPr txBox="1"/>
          <p:nvPr/>
        </p:nvSpPr>
        <p:spPr>
          <a:xfrm>
            <a:off x="9006840" y="1920240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dirty="0">
                <a:solidFill>
                  <a:srgbClr val="8B0000"/>
                </a:solidFill>
                <a:latin typeface="Times New Roman"/>
                <a:cs typeface="Times New Roman"/>
              </a:rPr>
              <a:t>01</a:t>
            </a:r>
          </a:p>
        </p:txBody>
      </p:sp>
      <p:sp>
        <p:nvSpPr>
          <p:cNvPr id="112" name="Stat label 4"/>
          <p:cNvSpPr txBox="1"/>
          <p:nvPr/>
        </p:nvSpPr>
        <p:spPr>
          <a:xfrm>
            <a:off x="9006840" y="269748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Calibri"/>
                <a:cs typeface="Calibri"/>
              </a:rPr>
              <a:t>Inquiry Form Integration</a:t>
            </a:r>
          </a:p>
        </p:txBody>
      </p:sp>
      <p:sp>
        <p:nvSpPr>
          <p:cNvPr id="113" name="Skills card"/>
          <p:cNvSpPr/>
          <p:nvPr/>
        </p:nvSpPr>
        <p:spPr>
          <a:xfrm>
            <a:off x="758952" y="3520440"/>
            <a:ext cx="52120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4" name="Skills card header"/>
          <p:cNvSpPr txBox="1"/>
          <p:nvPr/>
        </p:nvSpPr>
        <p:spPr>
          <a:xfrm>
            <a:off x="987552" y="361188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8B0000"/>
                </a:solidFill>
                <a:latin typeface="Times New Roman"/>
                <a:cs typeface="Times New Roman"/>
              </a:rPr>
              <a:t>Skills Gained</a:t>
            </a:r>
          </a:p>
        </p:txBody>
      </p:sp>
      <p:sp>
        <p:nvSpPr>
          <p:cNvPr id="115" name="Skills card list"/>
          <p:cNvSpPr txBox="1"/>
          <p:nvPr/>
        </p:nvSpPr>
        <p:spPr>
          <a:xfrm>
            <a:off x="987552" y="4114800"/>
            <a:ext cx="475488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React component-based frontend development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HTML, CSS and JavaScript for interactive interfaces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Responsive web design and layout implementation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Debugging, testing and production build verification</a:t>
            </a:r>
          </a:p>
        </p:txBody>
      </p:sp>
      <p:sp>
        <p:nvSpPr>
          <p:cNvPr id="116" name="Future card"/>
          <p:cNvSpPr/>
          <p:nvPr/>
        </p:nvSpPr>
        <p:spPr>
          <a:xfrm>
            <a:off x="6217920" y="3520440"/>
            <a:ext cx="52120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7" name="Future card header"/>
          <p:cNvSpPr txBox="1"/>
          <p:nvPr/>
        </p:nvSpPr>
        <p:spPr>
          <a:xfrm>
            <a:off x="6446520" y="361188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8B0000"/>
                </a:solidFill>
                <a:latin typeface="Times New Roman"/>
                <a:cs typeface="Times New Roman"/>
              </a:rPr>
              <a:t>Future Scope</a:t>
            </a:r>
          </a:p>
        </p:txBody>
      </p:sp>
      <p:sp>
        <p:nvSpPr>
          <p:cNvPr id="118" name="Future card list"/>
          <p:cNvSpPr txBox="1"/>
          <p:nvPr/>
        </p:nvSpPr>
        <p:spPr>
          <a:xfrm>
            <a:off x="6446520" y="4114800"/>
            <a:ext cx="475488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Improve accessibility and cross-browser testing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Expand services and add verified portfolio projects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Improve inquiry form validation and handling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600" b="0" i="0" dirty="0">
                <a:solidFill>
                  <a:srgbClr val="262626"/>
                </a:solidFill>
                <a:latin typeface="Calibri"/>
                <a:cs typeface="Calibri"/>
              </a:rPr>
              <a:t>Optimize performance and maintainability</a:t>
            </a:r>
          </a:p>
        </p:txBody>
      </p:sp>
      <p:sp>
        <p:nvSpPr>
          <p:cNvPr id="119" name="Footer"/>
          <p:cNvSpPr txBox="1"/>
          <p:nvPr/>
        </p:nvSpPr>
        <p:spPr>
          <a:xfrm>
            <a:off x="758952" y="6291072"/>
            <a:ext cx="106710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KrX Studio  |  Krishna Kumar  |  [INSERT YOUR REGISTER NUMBER]  |  7 / 8</a:t>
            </a:r>
          </a:p>
        </p:txBody>
      </p:sp>
    </p:spTree>
    <p:extLst>
      <p:ext uri="{BB962C8B-B14F-4D97-AF65-F5344CB8AC3E}">
        <p14:creationId xmlns:p14="http://schemas.microsoft.com/office/powerpoint/2010/main" val="2051030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EBB42-A1FD-8DFB-A437-7FFEE0210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4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CODE 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B4C4C56-A00E-EA82-B9D4-9F55DA4EA5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739871" y="1752600"/>
            <a:ext cx="6699557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D829F-0929-FE41-2D68-A23AA6A6D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CS19811-Phase-II-Final Viva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D290D-CD1D-F708-613D-A063F98FB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3E628-9628-0638-BF9A-D747021A0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8604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F4A8E-0BE7-09B1-8192-B8B9C6221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25471-4F93-6BDD-E277-304DD449A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4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CODE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385C5-CD94-E9AD-72FB-7CFF62154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CS19811-Phase-II-Final Viva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94A3E-BA51-9881-06B7-4ACD2A227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DA010-091B-8780-95D4-7D55E5017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5CA7058-0897-746A-8904-0684B95B75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558796" y="1752600"/>
            <a:ext cx="5061708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1878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C81F9-362D-3C68-D7CD-945C0C346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49299-8A90-7D28-8CF2-4CFF5858C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4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 OUTPUT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1BBB5-6885-6C57-1B41-77419EBEB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CS19811-Phase-II-Final Viva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EBE0A-4A94-B2F0-6862-52A1B77A9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79CEC-DD15-C077-FE34-8855E981A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FDB446D-9612-AAAB-8008-9821004DDF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073949" y="1752600"/>
            <a:ext cx="8031401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4510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34088EE-409A-43D4-40D1-E46BE8E6B81A}"/>
              </a:ext>
            </a:extLst>
          </p:cNvPr>
          <p:cNvSpPr txBox="1"/>
          <p:nvPr/>
        </p:nvSpPr>
        <p:spPr>
          <a:xfrm>
            <a:off x="768096" y="960120"/>
            <a:ext cx="1005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Conclusion card"/>
          <p:cNvSpPr/>
          <p:nvPr/>
        </p:nvSpPr>
        <p:spPr>
          <a:xfrm>
            <a:off x="758952" y="1828800"/>
            <a:ext cx="6766560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CFCF"/>
            </a:solidFill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2" name="Conclusion header"/>
          <p:cNvSpPr txBox="1"/>
          <p:nvPr/>
        </p:nvSpPr>
        <p:spPr>
          <a:xfrm>
            <a:off x="1005840" y="1965960"/>
            <a:ext cx="6309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8B0000"/>
                </a:solidFill>
                <a:latin typeface="Times New Roman"/>
                <a:cs typeface="Times New Roman"/>
              </a:rPr>
              <a:t>Key Takeaways</a:t>
            </a:r>
          </a:p>
        </p:txBody>
      </p:sp>
      <p:sp>
        <p:nvSpPr>
          <p:cNvPr id="103" name="Conclusion list"/>
          <p:cNvSpPr txBox="1"/>
          <p:nvPr/>
        </p:nvSpPr>
        <p:spPr>
          <a:xfrm>
            <a:off x="1005840" y="2560320"/>
            <a:ext cx="630936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b="0" i="0" dirty="0">
                <a:solidFill>
                  <a:srgbClr val="262626"/>
                </a:solidFill>
                <a:latin typeface="Calibri"/>
                <a:cs typeface="Calibri"/>
              </a:rPr>
              <a:t>KrX Studio demonstrates how HTML, React, JavaScript and CSS can be used to create a modern digital studio website.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b="0" i="0" dirty="0">
                <a:solidFill>
                  <a:srgbClr val="262626"/>
                </a:solidFill>
                <a:latin typeface="Calibri"/>
                <a:cs typeface="Calibri"/>
              </a:rPr>
              <a:t>Responsive layouts and interactive visual effects help deliver a consistent browsing experience across devices.</a:t>
            </a: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b="0" i="0" dirty="0">
                <a:solidFill>
                  <a:srgbClr val="262626"/>
                </a:solidFill>
                <a:latin typeface="Calibri"/>
                <a:cs typeface="Calibri"/>
              </a:rPr>
              <a:t>The inquiry form connects visitors to the studio through Web3Forms, and the frontend uses reusable components.</a:t>
            </a:r>
          </a:p>
        </p:txBody>
      </p:sp>
      <p:sp>
        <p:nvSpPr>
          <p:cNvPr id="104" name="Thank you card"/>
          <p:cNvSpPr/>
          <p:nvPr/>
        </p:nvSpPr>
        <p:spPr>
          <a:xfrm>
            <a:off x="7818120" y="1828800"/>
            <a:ext cx="3611880" cy="4069080"/>
          </a:xfrm>
          <a:prstGeom prst="roundRect">
            <a:avLst>
              <a:gd name="adj" fmla="val 4000"/>
            </a:avLst>
          </a:prstGeom>
          <a:solidFill>
            <a:srgbClr val="8B0000"/>
          </a:solidFill>
          <a:ln>
            <a:noFill/>
          </a:ln>
          <a:effectLst>
            <a:outerShdw blurRad="63500" dist="25400" dir="5400000" algn="t" rotWithShape="0">
              <a:srgbClr val="000000">
                <a:alpha val="14000"/>
              </a:srgbClr>
            </a:outerShdw>
          </a:effectLst>
        </p:spPr>
        <p:txBody>
          <a:bodyPr wrap="square" lIns="182880" tIns="91440" rIns="182880" bIns="9144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1400"/>
              </a:spcAft>
              <a:buNone/>
            </a:pPr>
            <a:r>
              <a:rPr lang="en-US" sz="3400" b="1" i="0" dirty="0">
                <a:solidFill>
                  <a:srgbClr val="FFFFFF"/>
                </a:solidFill>
                <a:latin typeface="Times New Roman"/>
                <a:cs typeface="Times New Roman"/>
              </a:rPr>
              <a:t>Thank You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cs typeface="Calibri"/>
              </a:rPr>
              <a:t>Krishna Kumar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-US" b="1">
                <a:solidFill>
                  <a:srgbClr val="FFFFFF"/>
                </a:solidFill>
                <a:latin typeface="Calibri"/>
                <a:cs typeface="Calibri"/>
              </a:rPr>
              <a:t>241901505</a:t>
            </a:r>
            <a:endParaRPr lang="en-US" sz="1800" b="1" i="0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05" name="Footer"/>
          <p:cNvSpPr txBox="1"/>
          <p:nvPr/>
        </p:nvSpPr>
        <p:spPr>
          <a:xfrm>
            <a:off x="758952" y="6291072"/>
            <a:ext cx="1067104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95959"/>
                </a:solidFill>
                <a:latin typeface="Calibri"/>
                <a:cs typeface="Calibri"/>
              </a:rPr>
              <a:t>KrX Studio  |  Krishna Kumar  |  [INSERT YOUR REGISTER NUMBER]  |  8 / 8</a:t>
            </a:r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6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7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837</TotalTime>
  <Words>808</Words>
  <Application>Microsoft Office PowerPoint</Application>
  <PresentationFormat>Widescreen</PresentationFormat>
  <Paragraphs>148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Times New Roman</vt:lpstr>
      <vt:lpstr>Verdana</vt:lpstr>
      <vt:lpstr>Wingdings</vt:lpstr>
      <vt:lpstr>Profile</vt:lpstr>
      <vt:lpstr>PowerPoint Presentation</vt:lpstr>
      <vt:lpstr>ABOUT THE INDUSTRY</vt:lpstr>
      <vt:lpstr>PROBLEM STATEMENT / OBJECTIVE</vt:lpstr>
      <vt:lpstr>TOOLS AND TECHNOLOGIES</vt:lpstr>
      <vt:lpstr>SYSTEM ARCHITECTURE AND IMPLEMENTATION</vt:lpstr>
      <vt:lpstr>WEBSITE STRUCTURE AND SECURITY</vt:lpstr>
      <vt:lpstr>PROJECT OUTCOME</vt:lpstr>
      <vt:lpstr>SOURCE CODE </vt:lpstr>
      <vt:lpstr>SOURCE CODE </vt:lpstr>
      <vt:lpstr>WEBSITE OUTPUT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Rupmala R</dc:creator>
  <cp:lastModifiedBy>LOKI J</cp:lastModifiedBy>
  <cp:revision>47</cp:revision>
  <dcterms:created xsi:type="dcterms:W3CDTF">2023-08-03T04:32:32Z</dcterms:created>
  <dcterms:modified xsi:type="dcterms:W3CDTF">2026-10-21T04:12:28Z</dcterms:modified>
</cp:coreProperties>
</file>